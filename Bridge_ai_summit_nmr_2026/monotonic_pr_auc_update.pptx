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82296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22222"/>
                </a:solidFill>
                <a:latin typeface="Calibri"/>
              </a:rPr>
              <a:t>Monotonic XGBoost + PR-AUC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Metabolic disease screening — three real-cohort experiments, re-evaluated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Obesity (MTBLS242 NMR)   ·   T2DM clinical (NHANES)   ·   T2DM urine NMR (MTBLS1)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2182B"/>
                </a:solidFill>
                <a:latin typeface="Calibri"/>
              </a:rPr>
              <a:t>BDI Hackathon 2026 · PhenoInsure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changed, and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94960" cy="4846320"/>
          </a:xfrm>
          <a:prstGeom prst="rect">
            <a:avLst/>
          </a:prstGeom>
          <a:solidFill>
            <a:srgbClr val="F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2182B"/>
                </a:solidFill>
                <a:latin typeface="Calibri"/>
              </a:rPr>
              <a:t>Monotonic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50">
                <a:solidFill>
                  <a:srgbClr val="B2182B"/>
                </a:solidFill>
                <a:latin typeface="Calibri"/>
              </a:rPr>
              <a:t>•  From literature, not from the data:  </a:t>
            </a:r>
            <a:r>
              <a:rPr sz="1350">
                <a:solidFill>
                  <a:srgbClr val="222222"/>
                </a:solidFill>
                <a:latin typeface="Calibri"/>
              </a:rPr>
              <a:t>each constrained feature's direction is a citable disease/metabolomics finding — never the sign of that feature's own correlation with this specific sample.</a:t>
            </a:r>
          </a:p>
          <a:p>
            <a:pPr>
              <a:spcAft>
                <a:spcPts val="600"/>
              </a:spcAft>
            </a:pPr>
            <a:r>
              <a:rPr b="1" sz="1350">
                <a:solidFill>
                  <a:srgbClr val="B2182B"/>
                </a:solidFill>
                <a:latin typeface="Calibri"/>
              </a:rPr>
              <a:t>•  Conservative by design:  </a:t>
            </a:r>
            <a:r>
              <a:rPr sz="1350">
                <a:solidFill>
                  <a:srgbClr val="222222"/>
                </a:solidFill>
                <a:latin typeface="Calibri"/>
              </a:rPr>
              <a:t>a feature is only constrained when there's a defensible reason. Everything uncertain — including all 105 unidentified NMR chemical-shift buckets in Experiment C, which have no chemical identity to reason about — is left unconstrained rather than guessed.</a:t>
            </a:r>
          </a:p>
          <a:p>
            <a:pPr>
              <a:spcAft>
                <a:spcPts val="600"/>
              </a:spcAft>
            </a:pPr>
            <a:r>
              <a:rPr b="1" sz="1350">
                <a:solidFill>
                  <a:srgbClr val="B2182B"/>
                </a:solidFill>
                <a:latin typeface="Calibri"/>
              </a:rPr>
              <a:t>•  Example calls:  </a:t>
            </a:r>
            <a:r>
              <a:rPr sz="1350">
                <a:solidFill>
                  <a:srgbClr val="222222"/>
                </a:solidFill>
                <a:latin typeface="Calibri"/>
              </a:rPr>
              <a:t>hippurate/citrate ↓ and ketone bodies ↑ in diabetic urine (this dataset's own published finding, Salek et al. 2007); BCAAs ↑ and glycine ↓ in obesity (Newgard 2009, Wang 2011); age/BP/triglycerides ↑ and HDL/albumin ↓ for T2DM risk.</a:t>
            </a:r>
          </a:p>
          <a:p>
            <a:pPr>
              <a:spcAft>
                <a:spcPts val="600"/>
              </a:spcAft>
            </a:pPr>
            <a:r>
              <a:rPr b="1" sz="1350">
                <a:solidFill>
                  <a:srgbClr val="B2182B"/>
                </a:solidFill>
                <a:latin typeface="Calibri"/>
              </a:rPr>
              <a:t>•  Rejected an earlier version:  </a:t>
            </a:r>
            <a:r>
              <a:rPr sz="1350">
                <a:solidFill>
                  <a:srgbClr val="222222"/>
                </a:solidFill>
                <a:latin typeface="Calibri"/>
              </a:rPr>
              <a:t>a correlation-sign approach was tried first, but it constrained known sample-context artifacts (e.g. a surgical skin-prep contaminant) as if they were biology, and a NaN-handling bug silently under-constrained NHANES. Literature-based directions avoid both failure modes.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371600"/>
            <a:ext cx="5394960" cy="4846320"/>
          </a:xfrm>
          <a:prstGeom prst="rect">
            <a:avLst/>
          </a:prstGeom>
          <a:solidFill>
            <a:srgbClr val="F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2182B"/>
                </a:solidFill>
                <a:latin typeface="Calibri"/>
              </a:rPr>
              <a:t>Headline metric: PR-AUC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B2182B"/>
                </a:solidFill>
                <a:latin typeface="Calibri"/>
              </a:rPr>
              <a:t>•  Replaces ROC-AUC  </a:t>
            </a:r>
            <a:r>
              <a:rPr sz="1450">
                <a:solidFill>
                  <a:srgbClr val="222222"/>
                </a:solidFill>
                <a:latin typeface="Calibri"/>
              </a:rPr>
              <a:t>as the reported cross-validation metric in all 3 notebooks + the script.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B2182B"/>
                </a:solidFill>
                <a:latin typeface="Calibri"/>
              </a:rPr>
              <a:t>•  Why:  </a:t>
            </a:r>
            <a:r>
              <a:rPr sz="1450">
                <a:solidFill>
                  <a:srgbClr val="222222"/>
                </a:solidFill>
                <a:latin typeface="Calibri"/>
              </a:rPr>
              <a:t>ROC-AUC can look optimistic under class imbalance. NHANES diabetes prevalence is only 14.3% — PR-AUC tracks precision at the recall levels a screening program actually operates at.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B2182B"/>
                </a:solidFill>
                <a:latin typeface="Calibri"/>
              </a:rPr>
              <a:t>•  Same rigor kept:  </a:t>
            </a:r>
            <a:r>
              <a:rPr sz="1450">
                <a:solidFill>
                  <a:srgbClr val="222222"/>
                </a:solidFill>
                <a:latin typeface="Calibri"/>
              </a:rPr>
              <a:t>stratified/subject-grouped 5-fold CV, held-out folds only, provenance + eval method stated on every figure.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19672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Monotonic XGBoost + PR-AUC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967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Bridge AI Summit NMR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Results summary (held-out PR-AUC)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834640"/>
                <a:gridCol w="2468880"/>
                <a:gridCol w="1463040"/>
                <a:gridCol w="1097280"/>
                <a:gridCol w="1097280"/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Experiment</a:t>
                      </a:r>
                    </a:p>
                  </a:txBody>
                  <a:tcPr anchor="ctr">
                    <a:solidFill>
                      <a:srgbClr val="B218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 anchor="ctr">
                    <a:solidFill>
                      <a:srgbClr val="B218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</a:t>
                      </a:r>
                    </a:p>
                  </a:txBody>
                  <a:tcPr anchor="ctr">
                    <a:solidFill>
                      <a:srgbClr val="B218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PR-AUC</a:t>
                      </a:r>
                    </a:p>
                  </a:txBody>
                  <a:tcPr anchor="ctr">
                    <a:solidFill>
                      <a:srgbClr val="B218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B218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Monotone (+/–/0)</a:t>
                      </a:r>
                    </a:p>
                  </a:txBody>
                  <a:tcPr anchor="ctr">
                    <a:solidFill>
                      <a:srgbClr val="B218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 — Obesity</a:t>
                      </a:r>
                    </a:p>
                  </a:txBody>
                  <a:tcPr anchor="ctr"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MTBLS242 serum NMR, n=177</a:t>
                      </a:r>
                    </a:p>
                  </a:txBody>
                  <a:tcPr anchor="ctr"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Stratified 5-fold</a:t>
                      </a:r>
                    </a:p>
                  </a:txBody>
                  <a:tcPr anchor="ctr"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0.984 ± 0.014</a:t>
                      </a:r>
                    </a:p>
                  </a:txBody>
                  <a:tcPr anchor="ctr"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0.599</a:t>
                      </a:r>
                    </a:p>
                  </a:txBody>
                  <a:tcPr anchor="ctr"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 / 3 / 10</a:t>
                      </a:r>
                    </a:p>
                  </a:txBody>
                  <a:tcPr anchor="ctr">
                    <a:solidFill>
                      <a:srgbClr val="FFF7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 — T2DM clinical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NHANES 2013–14, n=6,113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Stratified 5-fold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0.416 ± 0.030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0.143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 / 2 /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 — T2DM urine NMR</a:t>
                      </a:r>
                    </a:p>
                  </a:txBody>
                  <a:tcPr anchor="ctr"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MTBLS1, n=132 (42 subj)</a:t>
                      </a:r>
                    </a:p>
                  </a:txBody>
                  <a:tcPr anchor="ctr"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Subject-grouped 5-fold</a:t>
                      </a:r>
                    </a:p>
                  </a:txBody>
                  <a:tcPr anchor="ctr"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0.976 ± 0.022</a:t>
                      </a:r>
                    </a:p>
                  </a:txBody>
                  <a:tcPr anchor="ctr"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0.364</a:t>
                      </a:r>
                    </a:p>
                  </a:txBody>
                  <a:tcPr anchor="ctr"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28 / 4 / 188</a:t>
                      </a:r>
                    </a:p>
                  </a:txBody>
                  <a:tcPr anchor="ctr">
                    <a:solidFill>
                      <a:srgbClr val="FFF7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All three PR-AUCs sit well above their class-imbalance baseline (chance = prevalence).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B2182B"/>
                </a:solidFill>
                <a:latin typeface="Calibri"/>
              </a:rPr>
              <a:t>•  Experiment C caveat:  </a:t>
            </a:r>
            <a:r>
              <a:rPr sz="1400">
                <a:solidFill>
                  <a:srgbClr val="222222"/>
                </a:solidFill>
                <a:latin typeface="Calibri"/>
              </a:rPr>
              <a:t> naive vs. subject-grouped PR-AUC (0.969 vs 0.976) being close only rules out same-*person* leakage — it says nothing about the 100% control/diabetes vs. acquisition-batch confound in this cohort (see slide 6). Treat 0.976 as a ceiling.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B2182B"/>
                </a:solidFill>
                <a:latin typeface="Calibri"/>
              </a:rPr>
              <a:t>•  Experiment B  </a:t>
            </a:r>
            <a:r>
              <a:rPr sz="1400">
                <a:solidFill>
                  <a:srgbClr val="222222"/>
                </a:solidFill>
                <a:latin typeface="Calibri"/>
              </a:rPr>
              <a:t> is the honesty check twice over: PR-AUC ≈ 0.42 (~2.9x lift over the 0.143 baseline) is the real number once HbA1c and glucose — which define the label — are excluded, AND it is lower than a correlation-tuned constraint set would score (~0.46) — the cost of choosing directions for defensibility, not for 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9672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Monotonic XGBoost + PR-AUC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967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Bridge AI Summit NMR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Experiment A — Obesity (MTBLS242 serum NMR)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obese/preop n=106 vs healthy/12mo n=71  ·  21 metabolites, log1p  ·  XGBoost max_depth=3</a:t>
            </a:r>
          </a:p>
        </p:txBody>
      </p:sp>
      <p:pic>
        <p:nvPicPr>
          <p:cNvPr id="5" name="Picture 4" descr="expA_obesity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4603298" cy="4160520"/>
          </a:xfrm>
          <a:prstGeom prst="rect">
            <a:avLst/>
          </a:prstGeom>
        </p:spPr>
      </p:pic>
      <p:pic>
        <p:nvPicPr>
          <p:cNvPr id="6" name="Picture 5" descr="expA_obesity_sh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54480"/>
            <a:ext cx="5071583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300">
                <a:solidFill>
                  <a:srgbClr val="B2182B"/>
                </a:solidFill>
                <a:latin typeface="Calibri"/>
              </a:rPr>
              <a:t>•  PR-AUC 0.984 ± 0.014  </a:t>
            </a:r>
            <a:r>
              <a:rPr sz="1300">
                <a:solidFill>
                  <a:srgbClr val="222222"/>
                </a:solidFill>
                <a:latin typeface="Calibri"/>
              </a:rPr>
              <a:t>  (baseline 0.599). Monotone: BCAAs, aromatic amino acids, alanine, lipoproteins, lactate ↑; glycine, glutamine, histidine ↓ (11/21 constrained). Top SHAP drivers dimethyl sulfone/isopropanol/methanol are exogenous artifacts — deliberately left unconstrained, not treated as obesity biology.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9672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Experiment A — Obesity (MTBLS242 serum NMR)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967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Bridge AI Summit NMR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Experiment B — T2DM clinical (NHANES 2013–14)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diabetes prevalence 14.3%  ·  13 routine features, HbA1c + glucose excluded  ·  leakage-free</a:t>
            </a:r>
          </a:p>
        </p:txBody>
      </p:sp>
      <p:pic>
        <p:nvPicPr>
          <p:cNvPr id="5" name="Picture 4" descr="expB_t2dm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4603298" cy="4160520"/>
          </a:xfrm>
          <a:prstGeom prst="rect">
            <a:avLst/>
          </a:prstGeom>
        </p:spPr>
      </p:pic>
      <p:pic>
        <p:nvPicPr>
          <p:cNvPr id="6" name="Picture 5" descr="expB_t2dm_sh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54480"/>
            <a:ext cx="5006507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300">
                <a:solidFill>
                  <a:srgbClr val="B2182B"/>
                </a:solidFill>
                <a:latin typeface="Calibri"/>
              </a:rPr>
              <a:t>•  PR-AUC 0.416 ± 0.030  </a:t>
            </a:r>
            <a:r>
              <a:rPr sz="1300">
                <a:solidFill>
                  <a:srgbClr val="222222"/>
                </a:solidFill>
                <a:latin typeface="Calibri"/>
              </a:rPr>
              <a:t>  (baseline 0.143, ~2.9x lift). Monotone: age, systolic + diastolic BP, BUN, triglycerides, creatinine, uric acid, TC/HDL, total cholesterol ↑; HDL, albumin ↓ (11/13 constrained; sex/race left unconstrained as nominal categories).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9672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Experiment B — T2DM clinical (NHANES 2013–14)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967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Bridge AI Summit NMR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Experiment C — T2DM urine NMR (MTBLS1)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48 diabetes vs 84 control, 42 subjects  ·  220 NMR variables  ·  StratifiedGroupKFold</a:t>
            </a:r>
          </a:p>
        </p:txBody>
      </p:sp>
      <p:pic>
        <p:nvPicPr>
          <p:cNvPr id="5" name="Picture 4" descr="expC_t2dm_nmr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4198613" cy="3794760"/>
          </a:xfrm>
          <a:prstGeom prst="rect">
            <a:avLst/>
          </a:prstGeom>
        </p:spPr>
      </p:pic>
      <p:pic>
        <p:nvPicPr>
          <p:cNvPr id="6" name="Picture 5" descr="expC_t2dm_nmr_sh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54480"/>
            <a:ext cx="4271857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486400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250">
                <a:solidFill>
                  <a:srgbClr val="B2182B"/>
                </a:solidFill>
                <a:latin typeface="Calibri"/>
              </a:rPr>
              <a:t>•  PR-AUC 0.976 ± 0.022  </a:t>
            </a:r>
            <a:r>
              <a:rPr sz="1250">
                <a:solidFill>
                  <a:srgbClr val="222222"/>
                </a:solidFill>
                <a:latin typeface="Calibri"/>
              </a:rPr>
              <a:t>  subject-grouped (naive 0.969). Monotone: hippurate/citrate ↓ (Salek 2007), ketone bodies/α-hydroxybutyrate/allantoin ↑, aminoaciduria pattern ↑ (32/220 constrained).</a:t>
            </a:r>
          </a:p>
          <a:p>
            <a:pPr>
              <a:spcAft>
                <a:spcPts val="200"/>
              </a:spcAft>
            </a:pPr>
            <a:r>
              <a:rPr b="1" sz="1250">
                <a:solidFill>
                  <a:srgbClr val="B2182B"/>
                </a:solidFill>
                <a:latin typeface="Calibri"/>
              </a:rPr>
              <a:t>•  ⚠ Batch confound:  </a:t>
            </a:r>
            <a:r>
              <a:rPr sz="1250">
                <a:solidFill>
                  <a:srgbClr val="222222"/>
                </a:solidFill>
                <a:latin typeface="Calibri"/>
              </a:rPr>
              <a:t> every control sample is one acquisition batch, every diabetes sample another — label is 100% predictable from batch alone. Subject-grouping doesn't fix this. Treat PR-AUC as a ceiling, not confirmed biology.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9672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Experiment C — T2DM urine NMR (MTBLS1)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967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Bridge AI Summit NMR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Honest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B2182B"/>
                </a:solidFill>
                <a:latin typeface="Calibri"/>
              </a:rPr>
              <a:t>•  Experiment C has a 100% batch/label confound.  </a:t>
            </a:r>
            <a:r>
              <a:rPr sz="1300">
                <a:solidFill>
                  <a:srgbClr val="222222"/>
                </a:solidFill>
                <a:latin typeface="Calibri"/>
              </a:rPr>
              <a:t> Every control sample is one acquisition batch (ADG19007u), every diabetes sample another (ADG10003u). Subject-grouped CV rules out same-*person* leakage, not same-*batch* leakage — this PR-AUC cannot be separated from a scan-session artifact. Treat it as a ceiling, not confirmed biology.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B2182B"/>
                </a:solidFill>
                <a:latin typeface="Calibri"/>
              </a:rPr>
              <a:t>•  Real cohorts, held-out folds only.  </a:t>
            </a:r>
            <a:r>
              <a:rPr sz="1300">
                <a:solidFill>
                  <a:srgbClr val="222222"/>
                </a:solidFill>
                <a:latin typeface="Calibri"/>
              </a:rPr>
              <a:t> No synthetic spectra; every PR-AUC above is cross-validated, never training performance.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B2182B"/>
                </a:solidFill>
                <a:latin typeface="Calibri"/>
              </a:rPr>
              <a:t>•  Literature citations should be spot-checked before judge Q&amp;A.  </a:t>
            </a:r>
            <a:r>
              <a:rPr sz="1300">
                <a:solidFill>
                  <a:srgbClr val="222222"/>
                </a:solidFill>
                <a:latin typeface="Calibri"/>
              </a:rPr>
              <a:t> Directions were assigned from recalled disease/metabolomics literature (Newgard 2009, Wang 2011, Würtz et al., Gall 2010, Salek 2007) — worth an independent literature check before presenting, same as any cited claim.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B2182B"/>
                </a:solidFill>
                <a:latin typeface="Calibri"/>
              </a:rPr>
              <a:t>•  Monotonic constraints are a guardrail, not a performance trick.  </a:t>
            </a:r>
            <a:r>
              <a:rPr sz="1300">
                <a:solidFill>
                  <a:srgbClr val="222222"/>
                </a:solidFill>
                <a:latin typeface="Calibri"/>
              </a:rPr>
              <a:t> They encode 'this direction shouldn't flip on retrain', not a causal claim — most NMR variables (all unidentified peaks, plus identified ones without a confident direction) are left unconstrained on purpose.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B2182B"/>
                </a:solidFill>
                <a:latin typeface="Calibri"/>
              </a:rPr>
              <a:t>•  Experiment A caveat:  </a:t>
            </a:r>
            <a:r>
              <a:rPr sz="1300">
                <a:solidFill>
                  <a:srgbClr val="222222"/>
                </a:solidFill>
                <a:latin typeface="Calibri"/>
              </a:rPr>
              <a:t> preop vs 12-months-post-op are cohort extremes; part of the SHAP signal (isopropanol) is surgical sample context, not metabolism.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B2182B"/>
                </a:solidFill>
                <a:latin typeface="Calibri"/>
              </a:rPr>
              <a:t>•  Not biomarker evidence by itself:  </a:t>
            </a:r>
            <a:r>
              <a:rPr sz="1300">
                <a:solidFill>
                  <a:srgbClr val="222222"/>
                </a:solidFill>
                <a:latin typeface="Calibri"/>
              </a:rPr>
              <a:t> distinct from any NMR–NHANES fusion analysis, which used simulated NMR values and is pipeline validation only, not real biology.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9672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Monotonic XGBoost + PR-AUC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967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Bridge AI Summit NMR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